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3" name="Shape 1"/>
          <p:cNvSpPr/>
          <p:nvPr/>
        </p:nvSpPr>
        <p:spPr>
          <a:xfrm>
            <a:off x="4160520" y="731520"/>
            <a:ext cx="822960" cy="822960"/>
          </a:xfrm>
          <a:prstGeom prst="oval">
            <a:avLst/>
          </a:prstGeom>
          <a:solidFill>
            <a:srgbClr val="D4884A">
              <a:alpha val="8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260" y="9372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银龄金融安全助手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C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面向老年群体的AI智能金融反诈微信小程序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项目阶段汇报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88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 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91840" y="27432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0" y="274320"/>
            <a:ext cx="45720" cy="82296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365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4572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77640" y="365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项目背景与意义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27432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274320"/>
            <a:ext cx="45720" cy="82296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365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572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365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产品定位与核心价值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91840" y="118872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91840" y="1188720"/>
            <a:ext cx="45720" cy="82296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7" name="Text 13"/>
          <p:cNvSpPr/>
          <p:nvPr/>
        </p:nvSpPr>
        <p:spPr>
          <a:xfrm>
            <a:off x="3474720" y="1280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7764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项目完整流程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63640" y="118872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63640" y="1188720"/>
            <a:ext cx="45720" cy="82296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22" name="Text 17"/>
          <p:cNvSpPr/>
          <p:nvPr/>
        </p:nvSpPr>
        <p:spPr>
          <a:xfrm>
            <a:off x="6446520" y="1280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3716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核心功能模块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291840" y="210312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103120"/>
            <a:ext cx="45720" cy="82296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27" name="Text 21"/>
          <p:cNvSpPr/>
          <p:nvPr/>
        </p:nvSpPr>
        <p:spPr>
          <a:xfrm>
            <a:off x="3474720" y="2194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28600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7764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开发工作量展示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6263640" y="210312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63640" y="2103120"/>
            <a:ext cx="45720" cy="82296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32" name="Text 25"/>
          <p:cNvSpPr/>
          <p:nvPr/>
        </p:nvSpPr>
        <p:spPr>
          <a:xfrm>
            <a:off x="6446520" y="2194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28600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4944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关键问题与解决方案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3291840" y="301752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3291840" y="3017520"/>
            <a:ext cx="45720" cy="82296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37" name="Text 29"/>
          <p:cNvSpPr/>
          <p:nvPr/>
        </p:nvSpPr>
        <p:spPr>
          <a:xfrm>
            <a:off x="3474720" y="3108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3200400"/>
            <a:ext cx="320040" cy="32004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97764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技术架构与创新点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263640" y="301752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263640" y="3017520"/>
            <a:ext cx="45720" cy="82296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42" name="Text 33"/>
          <p:cNvSpPr/>
          <p:nvPr/>
        </p:nvSpPr>
        <p:spPr>
          <a:xfrm>
            <a:off x="6446520" y="3108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3200400"/>
            <a:ext cx="320040" cy="32004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94944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适老化设计特色</a:t>
            </a:r>
            <a:endParaRPr lang="en-US" sz="1300" dirty="0"/>
          </a:p>
        </p:txBody>
      </p:sp>
      <p:sp>
        <p:nvSpPr>
          <p:cNvPr id="45" name="Shape 35"/>
          <p:cNvSpPr/>
          <p:nvPr/>
        </p:nvSpPr>
        <p:spPr>
          <a:xfrm>
            <a:off x="3291840" y="393192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3291840" y="3931920"/>
            <a:ext cx="45720" cy="82296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47" name="Text 37"/>
          <p:cNvSpPr/>
          <p:nvPr/>
        </p:nvSpPr>
        <p:spPr>
          <a:xfrm>
            <a:off x="3474720" y="4023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0" y="4114800"/>
            <a:ext cx="320040" cy="32004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3977640" y="4023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项目成果与社会价值</a:t>
            </a:r>
            <a:endParaRPr lang="en-US" sz="1300" dirty="0"/>
          </a:p>
        </p:txBody>
      </p:sp>
      <p:sp>
        <p:nvSpPr>
          <p:cNvPr id="50" name="Shape 39"/>
          <p:cNvSpPr/>
          <p:nvPr/>
        </p:nvSpPr>
        <p:spPr>
          <a:xfrm>
            <a:off x="6263640" y="393192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6263640" y="3931920"/>
            <a:ext cx="45720" cy="82296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52" name="Text 41"/>
          <p:cNvSpPr/>
          <p:nvPr/>
        </p:nvSpPr>
        <p:spPr>
          <a:xfrm>
            <a:off x="6446520" y="4023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0" y="4114800"/>
            <a:ext cx="320040" cy="32004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949440" y="4023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未来规划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项目背景与意义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SIGNIFICANCE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2.8亿+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60岁以上人口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老龄化加速推进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18872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老年诈骗案件中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网络/电话诈骗占比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37947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118872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老年人遭遇诈骗后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不敢主动求助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663440" y="14173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63440" y="1417320"/>
            <a:ext cx="54864" cy="137160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9" name="Text 14"/>
          <p:cNvSpPr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市场痛点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93776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现有反诈宣传专业术语多、内容晦涩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缺少专门面向老年人的通俗化解读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页面设计不适老，交互复杂难上手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老年人金融知识匮乏，风险辨别能力弱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诈骗手段不断翻新：AI语音、仿冒平台等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29718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2971800"/>
            <a:ext cx="54864" cy="137160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23" name="Text 18"/>
          <p:cNvSpPr/>
          <p:nvPr/>
        </p:nvSpPr>
        <p:spPr>
          <a:xfrm>
            <a:off x="493776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项目核心意义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937760" y="3474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弥合老年群体数字鸿沟，守护财产安全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打造「拍照即辨险」的极简反诈入口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建立标准化养老金融风险语料库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为养老金融风险研究提供数据支撑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产品定位与核心价值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 &amp; CORE VALUES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77724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面向老年群体的轻量化、适老化AI金融反诈微信小程序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606040"/>
            <a:ext cx="502920" cy="50292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273177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智能风险识别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926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精准识别金融诈骗、非法集资、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高收益诱导、仿冒平台等各类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养老金融风险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24231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92040" y="2606040"/>
            <a:ext cx="502920" cy="50292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273177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通俗风险转译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83480" y="2926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将晦涩的金融条款、专业话术、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诈骗套路转化为老年人易懂的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口语化表达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70332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4360" y="3886200"/>
            <a:ext cx="502920" cy="50292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401193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全流程适老化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85800" y="4206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大字体、高对比配色、极简交互、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语音朗读、图形化提示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降低使用门槛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370332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92040" y="3886200"/>
            <a:ext cx="502920" cy="50292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4011930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数据研究价值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983480" y="4206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沉淀诈骗案例、高频话术、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风险样本，构建标准化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养老金融风险语料库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项目完整流程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463040" cy="4572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691640"/>
            <a:ext cx="457200" cy="45720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0594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拍照/上传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1874520"/>
            <a:ext cx="237744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94560" y="155448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194560" y="1554480"/>
            <a:ext cx="1463040" cy="4572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3" name="Shape 9"/>
          <p:cNvSpPr/>
          <p:nvPr/>
        </p:nvSpPr>
        <p:spPr>
          <a:xfrm>
            <a:off x="2697480" y="1691640"/>
            <a:ext cx="457200" cy="45720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780" y="180594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94560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OCR图文识别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874520"/>
            <a:ext cx="237744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931920" y="155448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931920" y="1554480"/>
            <a:ext cx="1463040" cy="4572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9" name="Shape 13"/>
          <p:cNvSpPr/>
          <p:nvPr/>
        </p:nvSpPr>
        <p:spPr>
          <a:xfrm>
            <a:off x="4434840" y="1691640"/>
            <a:ext cx="457200" cy="45720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140" y="180594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31920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AI风险分析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1874520"/>
            <a:ext cx="237744" cy="274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669280" y="155448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5669280" y="1554480"/>
            <a:ext cx="1463040" cy="4572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25" name="Shape 17"/>
          <p:cNvSpPr/>
          <p:nvPr/>
        </p:nvSpPr>
        <p:spPr>
          <a:xfrm>
            <a:off x="6172200" y="1691640"/>
            <a:ext cx="457200" cy="45720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1805940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669280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风险结果展示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0608" y="1874520"/>
            <a:ext cx="237744" cy="27432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406640" y="155448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7406640" y="1554480"/>
            <a:ext cx="1463040" cy="4572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31" name="Shape 21"/>
          <p:cNvSpPr/>
          <p:nvPr/>
        </p:nvSpPr>
        <p:spPr>
          <a:xfrm>
            <a:off x="7909560" y="1691640"/>
            <a:ext cx="457200" cy="45720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3860" y="1805940"/>
            <a:ext cx="228600" cy="2286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406640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语音播报</a:t>
            </a:r>
            <a:endParaRPr lang="en-US" sz="1200" dirty="0"/>
          </a:p>
        </p:txBody>
      </p:sp>
      <p:sp>
        <p:nvSpPr>
          <p:cNvPr id="34" name="Text 23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35" name="Shape 24"/>
          <p:cNvSpPr/>
          <p:nvPr/>
        </p:nvSpPr>
        <p:spPr>
          <a:xfrm>
            <a:off x="457200" y="3474720"/>
            <a:ext cx="384048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6" name="Text 25"/>
          <p:cNvSpPr/>
          <p:nvPr/>
        </p:nvSpPr>
        <p:spPr>
          <a:xfrm>
            <a:off x="64008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微信小程序前端    UniApp + Vue3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457200" y="3977640"/>
            <a:ext cx="3840480" cy="41148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38" name="Text 27"/>
          <p:cNvSpPr/>
          <p:nvPr/>
        </p:nvSpPr>
        <p:spPr>
          <a:xfrm>
            <a:off x="640080" y="3977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API网关 + 业务逻辑层    路由分发 / 鉴权 / 限流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40" name="Text 29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AI服务层    GLM-4.6V视觉模型 / OCR识别 / 关键词引擎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MODULES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7" name="Shape 5"/>
          <p:cNvSpPr/>
          <p:nvPr/>
        </p:nvSpPr>
        <p:spPr>
          <a:xfrm>
            <a:off x="1389888" y="1600200"/>
            <a:ext cx="502920" cy="50292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5618" y="17259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拍照识别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调用相机实时拍摄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大号按钮居中突出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一键发起风险识别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41732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3" name="Shape 10"/>
          <p:cNvSpPr/>
          <p:nvPr/>
        </p:nvSpPr>
        <p:spPr>
          <a:xfrm>
            <a:off x="4270248" y="1600200"/>
            <a:ext cx="502920" cy="50292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978" y="172593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相册上传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2900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调取微信相册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选择已保存的截图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支持聊天/短信/广告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72200" y="14173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41732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9" name="Shape 15"/>
          <p:cNvSpPr/>
          <p:nvPr/>
        </p:nvSpPr>
        <p:spPr>
          <a:xfrm>
            <a:off x="7150608" y="1600200"/>
            <a:ext cx="502920" cy="50292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338" y="172593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OCR文字提取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0936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精准提取图片全文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自动标注高危关键词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支持模糊/倾斜文档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11480" y="32004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11480" y="320040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25" name="Shape 20"/>
          <p:cNvSpPr/>
          <p:nvPr/>
        </p:nvSpPr>
        <p:spPr>
          <a:xfrm>
            <a:off x="1389888" y="3383280"/>
            <a:ext cx="502920" cy="50292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618" y="3509010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AI风险分析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4864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三层风险判定机制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规则引擎+AI语义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三大风险类型覆盖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91840" y="32004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91840" y="320040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31" name="Shape 25"/>
          <p:cNvSpPr/>
          <p:nvPr/>
        </p:nvSpPr>
        <p:spPr>
          <a:xfrm>
            <a:off x="4270248" y="3383280"/>
            <a:ext cx="502920" cy="50292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5978" y="3509010"/>
            <a:ext cx="251460" cy="2514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42900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语音播报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342900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分析完成自动播报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平缓语速清晰吐字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支持随时暂停/重听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72200" y="32004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72200" y="320040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37" name="Shape 30"/>
          <p:cNvSpPr/>
          <p:nvPr/>
        </p:nvSpPr>
        <p:spPr>
          <a:xfrm>
            <a:off x="7150608" y="3383280"/>
            <a:ext cx="502920" cy="50292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6338" y="3509010"/>
            <a:ext cx="251460" cy="2514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30936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历史记录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630936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留存所有识别记录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支持回看/删除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数据本地安全存储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开发工作量展示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 METRICS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源文件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Vue组件 + JS模块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5176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Vue页面组件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首页/分析/结果/历史等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0060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高风险关键词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覆盖8大诈骗类型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3716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8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4944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核心功能模块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拍照/OCR/AI/语音/历史/帮助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开发阶段总览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155448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5486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阶段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主要内容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具体产出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第一阶段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基础框架搭建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首页、拍照上传、图片压缩、隐私弹窗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第二阶段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AI核心能力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对接GLM-4.6V、风险判定、JSON解析、缓存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第三阶段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适老化完善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语音播报、历史记录、帮助中心、结果页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第四阶段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优化与联调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关键词库扩容、重试机制、兜底逻辑、BUG修复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开发协作：关键问题与解决方案（上）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PROBLEMS SOLVED DURING DEVELOPMENT (1/2)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44752"/>
            <a:ext cx="384048" cy="384048"/>
          </a:xfrm>
          <a:prstGeom prst="oval">
            <a:avLst/>
          </a:prstGeom>
          <a:solidFill>
            <a:srgbClr val="D488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域名白名单错误（request: fail URL not in domain list）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问题：API请求 open.bigmodel.cn 被微信域名校验拦截，真机调试时即使配置了合法域名仍报错。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解决：修改 project.private.config.json 设置 urlCheck: false 用于开发调试；指导在微信公众平台后台添加 request 合法域名；针对测试号在开发者工具【域名信息】中单独配置。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633472"/>
            <a:ext cx="384048" cy="384048"/>
          </a:xfrm>
          <a:prstGeom prst="oval">
            <a:avLst/>
          </a:prstGeom>
          <a:solidFill>
            <a:srgbClr val="D488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图片缓存哈希碰撞 — 始终显示同一结果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问题：simpleHash 只取 Base64 前 64 字符，但 JPEG/PNG 文件头完全一致，导致 A 图分析后 B/C/D 图全部命中缓存返回 A 的结果。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解决：重写哈希算法 — 取首部256 + 中部256 + 尾部256 字符拼接后做 djb2 校验和；缓存 Key 加版本号 v2 使旧脏缓存失效；新增调试日志输出每次指纹。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822192"/>
            <a:ext cx="384048" cy="384048"/>
          </a:xfrm>
          <a:prstGeom prst="oval">
            <a:avLst/>
          </a:prstGeom>
          <a:solidFill>
            <a:srgbClr val="D488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794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模型返回格式异常 — JSON 解析频繁失败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0690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问题：AI 模型输出有时带 ```json 标记、尾部逗号、未转义换行、嵌套括号等非纯 JSON，原有 2 种简单尝试不足以覆盖。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解决：① 添加 response_format 强制 JSON 输出模式；② 构建 5 层递进解析引擎（直接解析→去 markdown→贪婪正则→平衡括号→自动修复）；③ 新增 fallbackFromRawText() 兜底，解析失败仍能输出可用结果。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开发协作：关键问题与解决方案（下）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PROBLEMS SOLVED DURING DEVELOPMENT (2/2)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44752"/>
            <a:ext cx="384048" cy="384048"/>
          </a:xfrm>
          <a:prstGeom prst="oval">
            <a:avLst/>
          </a:prstGeom>
          <a:solidFill>
            <a:srgbClr val="D488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高风险判定从未触发 — 词库过窄 + AI 保守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问题：原 HIGH_RISK_KEYWORDS 仅 19 条，「公检法」「法院传票」等典型诈骗词还在 caution 里，且 Prompt 判断标准过于笼统。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解决：高风险词库扩展至 80+ 条，按 8 大诈骗类型分类；「公检法/冒充/钓鱼链接」等从 caution 移至 HIGH；新增组合升级机制（≥3 条 caution → auto HIGH）；Prompt 重写强调「宁可误判高也不要漏判」。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633472"/>
            <a:ext cx="384048" cy="384048"/>
          </a:xfrm>
          <a:prstGeom prst="oval">
            <a:avLst/>
          </a:prstGeom>
          <a:solidFill>
            <a:srgbClr val="D488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模型返回为空 — API 偶发无响应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问题：max_tokens=1024 偏小，无重试机制，API 返回空或 finish_reason=length 截断时直接抛 error 阻塞用户使用。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解决：① 3 次指数退避重试（2s/4s）；② 检测到 length 截断自动翻倍 max_tokens；③ max_tokens 提升至 2048；④ 新增 makeEmptyFallbackResult() 终极兜底，所有重试失败仍返回友好提示而非报错。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822192"/>
            <a:ext cx="384048" cy="384048"/>
          </a:xfrm>
          <a:prstGeom prst="oval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794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其他优化：适老化交互与系统健壮性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0690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问题：分析结果页缺少语音播报自动触发、历史记录数据持久化需优化、低风险结果需安全语言过滤防止误导老人。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解决：语音播报自动触发机制 + 常驻播放/暂停按钮；storage 模块封装缓存 LRU 淘汰（上限 50 条）；低风险结果强制替换「内容安全/无风险」等绝对描述为审慎表述，保障老年用户不被误导。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技术架构与创新点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INNOVATIONS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三层风险判定引擎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第一层 规则引擎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关键词库扫描，组合升级机制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0" cy="50292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第二层 AI语义分析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GLM-4.6V 视觉模型，上下文语义判读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1148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第三层 综合打分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规则得分 + AI结论 → 低/慎/高三等级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11880"/>
            <a:ext cx="45720" cy="137160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5层JSON解析回退引擎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977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直接解析 → ② 去Markdown → ③ 贪婪正则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平衡括号 → ⑤ 自动修复 → 兜底提取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371600"/>
            <a:ext cx="3931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90472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4068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金融话术→老年口语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74920" y="1755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独创适老化风险转译，摒弃专业术语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46320" y="2249424"/>
            <a:ext cx="3931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368296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40680" y="2322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全链路适老化交互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074920" y="2633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字体/配色/按钮/语音全套适配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846320" y="3127248"/>
            <a:ext cx="3931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246120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44068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场景垂直化定位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074920" y="35112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聚焦养老金融+老年诈骗细分场景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846320" y="4005072"/>
            <a:ext cx="3931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123944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440680" y="4078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数据价值复用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07492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自动沉淀诈骗话术，构建风险语料库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适老化设计特色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SENIOR-FRIENDLY DESIGN FEATURES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65176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508760"/>
            <a:ext cx="457200" cy="45720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6230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字体规范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331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基础正文 ≥ 18px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风险等级/按钮 ≥ 24px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无衬线字体，不加斜体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65176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37160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1960" y="1508760"/>
            <a:ext cx="457200" cy="45720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62306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交互极简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29000" y="2331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少输入、少跳转、少弹窗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按钮放大、间距加宽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全程拍照/上传为主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72200" y="1371600"/>
            <a:ext cx="265176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37160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9" name="Shape 15"/>
          <p:cNvSpPr/>
          <p:nvPr/>
        </p:nvSpPr>
        <p:spPr>
          <a:xfrm>
            <a:off x="7132320" y="1508760"/>
            <a:ext cx="457200" cy="45720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1623060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高对比配色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09360" y="2331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绿色·低风险 | 黄色·需谨慎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红色·高风险 | 浅底配深字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色盲友好，红绿独立辨识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11480" y="3200400"/>
            <a:ext cx="265176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11480" y="320040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25" name="Shape 20"/>
          <p:cNvSpPr/>
          <p:nvPr/>
        </p:nvSpPr>
        <p:spPr>
          <a:xfrm>
            <a:off x="1371600" y="3337560"/>
            <a:ext cx="457200" cy="45720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345186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2920" y="3858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语音播报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4864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分析完成自动朗读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平缓语速，吐字清晰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常驻播放/暂停按钮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91840" y="3200400"/>
            <a:ext cx="265176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91840" y="320040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31" name="Shape 25"/>
          <p:cNvSpPr/>
          <p:nvPr/>
        </p:nvSpPr>
        <p:spPr>
          <a:xfrm>
            <a:off x="4251960" y="3337560"/>
            <a:ext cx="457200" cy="45720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3451860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383280" y="3858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隐私安全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342900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敏感信息自动脱敏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HTTPS加密传输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首次使用弹窗授权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72200" y="3200400"/>
            <a:ext cx="265176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72200" y="3200400"/>
            <a:ext cx="2651760" cy="36576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37" name="Shape 30"/>
          <p:cNvSpPr/>
          <p:nvPr/>
        </p:nvSpPr>
        <p:spPr>
          <a:xfrm>
            <a:off x="7132320" y="3337560"/>
            <a:ext cx="457200" cy="457200"/>
          </a:xfrm>
          <a:prstGeom prst="oval">
            <a:avLst/>
          </a:prstGeom>
          <a:solidFill>
            <a:srgbClr val="D4884A">
              <a:alpha val="85000"/>
            </a:srgb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620" y="3451860"/>
            <a:ext cx="228600" cy="2286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263640" y="3858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语言通俗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630936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零金融专业术语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口语化一句话一个意思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语气严肃但温和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项目成果与社会价值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SOCIAL VALUE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产品成果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45720" cy="1508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完整微信小程序 V1.0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拍照识别 + AI分析 + 语音播报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三层风险判定引擎（80+关键词）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全流程适老化交互体验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历史记录 + 帮助中心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隐私弹窗 + 数据脱敏 + 安全过滤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技术成果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91640"/>
            <a:ext cx="45720" cy="150876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783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5层JSON递进解析引擎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智能哈希缓存 + 版本化Key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3次指数退避重试机制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多层安全兜底（永不出错）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关键词组合升级 + 本地扫描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可复用适老化交互方案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429000"/>
            <a:ext cx="1920240" cy="1463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3566160"/>
            <a:ext cx="502920" cy="502920"/>
          </a:xfrm>
          <a:prstGeom prst="oval">
            <a:avLst/>
          </a:prstGeom>
          <a:solidFill>
            <a:srgbClr val="D4884A">
              <a:alpha val="80000"/>
            </a:srgbClr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3691890"/>
            <a:ext cx="251460" cy="2514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赋能老年群体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提升老年人自主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C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辨别金融风险能力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560320" y="3429000"/>
            <a:ext cx="1920240" cy="1463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Shape 16"/>
          <p:cNvSpPr/>
          <p:nvPr/>
        </p:nvSpPr>
        <p:spPr>
          <a:xfrm>
            <a:off x="3154680" y="3566160"/>
            <a:ext cx="502920" cy="502920"/>
          </a:xfrm>
          <a:prstGeom prst="oval">
            <a:avLst/>
          </a:prstGeom>
          <a:solidFill>
            <a:srgbClr val="D4884A">
              <a:alpha val="80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410" y="3691890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65176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守护财产安全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265176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针对性打击养老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C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诈骗，减少损失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09160" y="3429000"/>
            <a:ext cx="1920240" cy="1463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Shape 20"/>
          <p:cNvSpPr/>
          <p:nvPr/>
        </p:nvSpPr>
        <p:spPr>
          <a:xfrm>
            <a:off x="5303520" y="3566160"/>
            <a:ext cx="502920" cy="502920"/>
          </a:xfrm>
          <a:prstGeom prst="oval">
            <a:avLst/>
          </a:prstGeom>
          <a:solidFill>
            <a:srgbClr val="D4884A">
              <a:alpha val="80000"/>
            </a:srgbClr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3691890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0060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弥合数字鸿沟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80060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优化适老化体验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C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让科技服务老人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858000" y="3429000"/>
            <a:ext cx="1920240" cy="1463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Shape 24"/>
          <p:cNvSpPr/>
          <p:nvPr/>
        </p:nvSpPr>
        <p:spPr>
          <a:xfrm>
            <a:off x="7452360" y="3566160"/>
            <a:ext cx="502920" cy="502920"/>
          </a:xfrm>
          <a:prstGeom prst="oval">
            <a:avLst/>
          </a:prstGeom>
          <a:solidFill>
            <a:srgbClr val="D4884A">
              <a:alpha val="80000"/>
            </a:srgbClr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8090" y="3691890"/>
            <a:ext cx="251460" cy="2514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4944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助力行业发展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94944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服务银发经济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C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健康有序推进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32A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未来规划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0" y="1600200"/>
            <a:ext cx="27432" cy="713232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1536192"/>
            <a:ext cx="301752" cy="301752"/>
          </a:xfrm>
          <a:prstGeom prst="oval">
            <a:avLst/>
          </a:prstGeom>
          <a:solidFill>
            <a:srgbClr val="D4884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371600"/>
            <a:ext cx="6217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472184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7180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AI语音问答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971800" y="16642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支持语音提问，口头咨询防骗问题，老人只需说话就能获得风险分析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11680" y="2313432"/>
            <a:ext cx="27432" cy="713232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13" name="Shape 10"/>
          <p:cNvSpPr/>
          <p:nvPr/>
        </p:nvSpPr>
        <p:spPr>
          <a:xfrm>
            <a:off x="1874520" y="2249424"/>
            <a:ext cx="301752" cy="301752"/>
          </a:xfrm>
          <a:prstGeom prst="oval">
            <a:avLst/>
          </a:prstGeom>
          <a:solidFill>
            <a:srgbClr val="D4884A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21762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423160" y="2084832"/>
            <a:ext cx="6217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18541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71800" y="2130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家属协同监护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971800" y="23774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绑定亲属账号，老人识别到高风险时自动推送提醒给家属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011680" y="3026664"/>
            <a:ext cx="27432" cy="713232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20" name="Shape 16"/>
          <p:cNvSpPr/>
          <p:nvPr/>
        </p:nvSpPr>
        <p:spPr>
          <a:xfrm>
            <a:off x="1874520" y="2962656"/>
            <a:ext cx="301752" cy="301752"/>
          </a:xfrm>
          <a:prstGeom prst="oval">
            <a:avLst/>
          </a:prstGeom>
          <a:solidFill>
            <a:srgbClr val="D4884A"/>
          </a:solidFill>
          <a:ln/>
        </p:spPr>
      </p:sp>
      <p:sp>
        <p:nvSpPr>
          <p:cNvPr id="21" name="Text 17"/>
          <p:cNvSpPr/>
          <p:nvPr/>
        </p:nvSpPr>
        <p:spPr>
          <a:xfrm>
            <a:off x="1005840" y="2889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423160" y="2798064"/>
            <a:ext cx="6217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898648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971800" y="2843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社区联动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2971800" y="30906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对接社区、养老机构，推送本地反诈通知与线下活动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011680" y="3739896"/>
            <a:ext cx="27432" cy="713232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27" name="Shape 22"/>
          <p:cNvSpPr/>
          <p:nvPr/>
        </p:nvSpPr>
        <p:spPr>
          <a:xfrm>
            <a:off x="1874520" y="3675888"/>
            <a:ext cx="301752" cy="301752"/>
          </a:xfrm>
          <a:prstGeom prst="oval">
            <a:avLst/>
          </a:prstGeom>
          <a:solidFill>
            <a:srgbClr val="D4884A"/>
          </a:solidFill>
          <a:ln/>
        </p:spPr>
      </p:sp>
      <p:sp>
        <p:nvSpPr>
          <p:cNvPr id="28" name="Text 23"/>
          <p:cNvSpPr/>
          <p:nvPr/>
        </p:nvSpPr>
        <p:spPr>
          <a:xfrm>
            <a:off x="1005840" y="36027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423160" y="3511296"/>
            <a:ext cx="6217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611880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971800" y="35570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风险热力图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2971800" y="38039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可视化展示本地区高发诈骗类型、风险点位，辅助监管决策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2011680" y="4453128"/>
            <a:ext cx="27432" cy="457200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34" name="Shape 28"/>
          <p:cNvSpPr/>
          <p:nvPr/>
        </p:nvSpPr>
        <p:spPr>
          <a:xfrm>
            <a:off x="1874520" y="4389120"/>
            <a:ext cx="301752" cy="301752"/>
          </a:xfrm>
          <a:prstGeom prst="oval">
            <a:avLst/>
          </a:prstGeom>
          <a:solidFill>
            <a:srgbClr val="D4884A"/>
          </a:solidFill>
          <a:ln/>
        </p:spPr>
      </p:sp>
      <p:sp>
        <p:nvSpPr>
          <p:cNvPr id="35" name="Text 29"/>
          <p:cNvSpPr/>
          <p:nvPr/>
        </p:nvSpPr>
        <p:spPr>
          <a:xfrm>
            <a:off x="1005840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2423160" y="4224528"/>
            <a:ext cx="6217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4325112"/>
            <a:ext cx="292608" cy="29260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2971800" y="4270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数据驾驶舱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2971800" y="45171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面向监管、研究机构的风险数据可视化后台，提供研究素材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097280"/>
            <a:ext cx="914400" cy="914400"/>
          </a:xfrm>
          <a:prstGeom prst="oval">
            <a:avLst/>
          </a:prstGeom>
          <a:solidFill>
            <a:srgbClr val="D4884A">
              <a:alpha val="8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611880"/>
            <a:ext cx="2743200" cy="27432"/>
          </a:xfrm>
          <a:prstGeom prst="rect">
            <a:avLst/>
          </a:prstGeom>
          <a:solidFill>
            <a:srgbClr val="D4884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C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银龄金融安全助手  ·  守护每一位长者的财产安全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88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银龄金融安全助手 - 项目汇报</dc:title>
  <dc:subject>PptxGenJS Presentation</dc:subject>
  <dc:creator>银龄金融安全助手项目组</dc:creator>
  <cp:lastModifiedBy>银龄金融安全助手项目组</cp:lastModifiedBy>
  <cp:revision>1</cp:revision>
  <dcterms:created xsi:type="dcterms:W3CDTF">2026-06-15T07:27:55Z</dcterms:created>
  <dcterms:modified xsi:type="dcterms:W3CDTF">2026-06-15T07:27:55Z</dcterms:modified>
</cp:coreProperties>
</file>